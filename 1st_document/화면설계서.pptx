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804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62" r:id="rId21"/>
    <p:sldId id="260" r:id="rId22"/>
    <p:sldId id="257" r:id="rId24"/>
    <p:sldId id="258" r:id="rId25"/>
    <p:sldId id="259" r:id="rId26"/>
    <p:sldId id="26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1" Type="http://schemas.openxmlformats.org/officeDocument/2006/relationships/slide" Target="slides/slide2.xml"></Relationship><Relationship Id="rId22" Type="http://schemas.openxmlformats.org/officeDocument/2006/relationships/slide" Target="slides/slide3.xml"></Relationship><Relationship Id="rId24" Type="http://schemas.openxmlformats.org/officeDocument/2006/relationships/slide" Target="slides/slide4.xml"></Relationship><Relationship Id="rId25" Type="http://schemas.openxmlformats.org/officeDocument/2006/relationships/slide" Target="slides/slide5.xml"></Relationship><Relationship Id="rId26" Type="http://schemas.openxmlformats.org/officeDocument/2006/relationships/slide" Target="slides/slide6.xml"></Relationship><Relationship Id="rId27" Type="http://schemas.openxmlformats.org/officeDocument/2006/relationships/slide" Target="slides/slide7.xml"></Relationship><Relationship Id="rId28" Type="http://schemas.openxmlformats.org/officeDocument/2006/relationships/viewProps" Target="viewProps.xml"></Relationship><Relationship Id="rId29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3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3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 rot="0">
            <a:off x="685800" y="1143000"/>
            <a:ext cx="5487035" cy="3086735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</a:p>
        </p:txBody>
      </p:sp>
      <p:sp>
        <p:nvSpPr>
          <p:cNvPr id="3" name="슬라이드 노트 개체 틀 2"/>
          <p:cNvSpPr txBox="1">
            <a:spLocks noGrp="1"/>
          </p:cNvSpPr>
          <p:nvPr>
            <p:ph type="body" idx="1"/>
          </p:nvPr>
        </p:nvSpPr>
        <p:spPr>
          <a:xfrm rot="0">
            <a:off x="685800" y="4400550"/>
            <a:ext cx="5487035" cy="3601085"/>
          </a:xfrm>
          <a:prstGeom prst="rect"/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idx="10"/>
          </p:nvPr>
        </p:nvSpPr>
        <p:spPr>
          <a:xfrm rot="0">
            <a:off x="3884930" y="8685530"/>
            <a:ext cx="2972435" cy="459105"/>
          </a:xfrm>
          <a:prstGeom prst="rect"/>
        </p:spPr>
        <p:txBody>
          <a:bodyPr wrap="square" lIns="91440" tIns="45720" rIns="91440" bIns="45720" numCol="1" vert="horz" anchor="b">
            <a:noAutofit/>
          </a:bodyPr>
          <a:lstStyle/>
          <a:p>
            <a:pPr marL="0" indent="0">
              <a:buFontTx/>
              <a:buNone/>
            </a:pPr>
            <a:fld id="{B9320F77-B9A0-41C5-862A-B4B631284C64}" type="slidenum">
              <a:rPr lang="ko-KR" altLang="en-US"/>
              <a:t>1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slideLayouts/_rels/slideLayout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slideLayout" Target="../slideLayouts/slideLayout2.xml"></Relationship><Relationship Id="rId3" Type="http://schemas.openxmlformats.org/officeDocument/2006/relationships/slideLayout" Target="../slideLayouts/slideLayout3.xml"></Relationship><Relationship Id="rId4" Type="http://schemas.openxmlformats.org/officeDocument/2006/relationships/slideLayout" Target="../slideLayouts/slideLayout4.xml"></Relationship><Relationship Id="rId5" Type="http://schemas.openxmlformats.org/officeDocument/2006/relationships/slideLayout" Target="../slideLayouts/slideLayout5.xml"></Relationship><Relationship Id="rId6" Type="http://schemas.openxmlformats.org/officeDocument/2006/relationships/slideLayout" Target="../slideLayouts/slideLayout6.xml"></Relationship><Relationship Id="rId7" Type="http://schemas.openxmlformats.org/officeDocument/2006/relationships/slideLayout" Target="../slideLayouts/slideLayout7.xml"></Relationship><Relationship Id="rId8" Type="http://schemas.openxmlformats.org/officeDocument/2006/relationships/slideLayout" Target="../slideLayouts/slideLayout8.xml"></Relationship><Relationship Id="rId9" Type="http://schemas.openxmlformats.org/officeDocument/2006/relationships/slideLayout" Target="../slideLayouts/slideLayout9.xml"></Relationship><Relationship Id="rId10" Type="http://schemas.openxmlformats.org/officeDocument/2006/relationships/slideLayout" Target="../slideLayouts/slideLayout10.xml"></Relationship><Relationship Id="rId11" Type="http://schemas.openxmlformats.org/officeDocument/2006/relationships/slideLayout" Target="../slideLayouts/slideLayout11.xml"></Relationship><Relationship Id="rId12" Type="http://schemas.openxmlformats.org/officeDocument/2006/relationships/theme" Target="../theme/theme1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</p:sldLayoutIdLst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notesSlide" Target="../notesSlides/notesSlide3.xml"></Relationship><Relationship Id="rId3" Type="http://schemas.openxmlformats.org/officeDocument/2006/relationships/image" Target="../media/fImage2628122541.jpeg"></Relationship><Relationship Id="rId4" Type="http://schemas.openxmlformats.org/officeDocument/2006/relationships/image" Target="../media/fImage49762268467.jpeg"></Relationship><Relationship Id="rId5" Type="http://schemas.openxmlformats.org/officeDocument/2006/relationships/image" Target="../media/fImage34002276334.jpeg"></Relationship><Relationship Id="rId6" Type="http://schemas.openxmlformats.org/officeDocument/2006/relationships/hyperlink" Target="https://www.youtube.com/watch?v=5HPnDnlQ2CY" TargetMode="External"></Relationship><Relationship Id="rId7" Type="http://schemas.openxmlformats.org/officeDocument/2006/relationships/slideLayout" Target="../slideLayouts/slideLayout1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635" cy="2388235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화면설계서</a:t>
            </a:r>
            <a:endParaRPr lang="ko-KR" altLang="en-US"/>
          </a:p>
        </p:txBody>
      </p:sp>
      <p:sp>
        <p:nvSpPr>
          <p:cNvPr id="3" name="텍스트 상자 1"/>
          <p:cNvSpPr txBox="1">
            <a:spLocks/>
          </p:cNvSpPr>
          <p:nvPr/>
        </p:nvSpPr>
        <p:spPr>
          <a:xfrm rot="0">
            <a:off x="4265295" y="3860165"/>
            <a:ext cx="13735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2</a:t>
            </a:r>
            <a:r>
              <a:rPr sz="1800">
                <a:latin typeface="맑은 고딕" charset="0"/>
                <a:ea typeface="맑은 고딕" charset="0"/>
              </a:rPr>
              <a:t>02</a:t>
            </a:r>
            <a:r>
              <a:rPr lang="ko-KR" sz="1800">
                <a:latin typeface="맑은 고딕" charset="0"/>
                <a:ea typeface="맑은 고딕" charset="0"/>
              </a:rPr>
              <a:t>6</a:t>
            </a:r>
            <a:r>
              <a:rPr lang="ko-KR" sz="1800">
                <a:latin typeface="맑은 고딕" charset="0"/>
                <a:ea typeface="맑은 고딕" charset="0"/>
              </a:rPr>
              <a:t>-03-24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6"/>
          <p:cNvSpPr>
            <a:spLocks/>
          </p:cNvSpPr>
          <p:nvPr/>
        </p:nvSpPr>
        <p:spPr>
          <a:xfrm rot="0">
            <a:off x="1115695" y="977265"/>
            <a:ext cx="9413240" cy="4980305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도형 8"/>
          <p:cNvSpPr>
            <a:spLocks/>
          </p:cNvSpPr>
          <p:nvPr/>
        </p:nvSpPr>
        <p:spPr>
          <a:xfrm rot="0">
            <a:off x="1125855" y="97726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" name="도형 10"/>
          <p:cNvSpPr>
            <a:spLocks/>
          </p:cNvSpPr>
          <p:nvPr/>
        </p:nvSpPr>
        <p:spPr>
          <a:xfrm rot="0">
            <a:off x="9143365" y="118427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" name="도형 11"/>
          <p:cNvSpPr>
            <a:spLocks/>
          </p:cNvSpPr>
          <p:nvPr/>
        </p:nvSpPr>
        <p:spPr>
          <a:xfrm rot="0">
            <a:off x="1283970" y="114490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12"/>
          <p:cNvSpPr txBox="1">
            <a:spLocks/>
          </p:cNvSpPr>
          <p:nvPr/>
        </p:nvSpPr>
        <p:spPr>
          <a:xfrm rot="0">
            <a:off x="2597150" y="1195070"/>
            <a:ext cx="1094740" cy="370840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" name="텍스트 상자 13"/>
          <p:cNvSpPr txBox="1">
            <a:spLocks/>
          </p:cNvSpPr>
          <p:nvPr/>
        </p:nvSpPr>
        <p:spPr>
          <a:xfrm rot="0">
            <a:off x="3695700" y="120713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4"/>
          <p:cNvSpPr txBox="1">
            <a:spLocks/>
          </p:cNvSpPr>
          <p:nvPr/>
        </p:nvSpPr>
        <p:spPr>
          <a:xfrm rot="0">
            <a:off x="5071110" y="118999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1" name="도형 17"/>
          <p:cNvSpPr>
            <a:spLocks/>
          </p:cNvSpPr>
          <p:nvPr/>
        </p:nvSpPr>
        <p:spPr>
          <a:xfrm rot="0">
            <a:off x="2597150" y="2012950"/>
            <a:ext cx="2716530" cy="3545840"/>
          </a:xfrm>
          <a:prstGeom prst="rect"/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텍스트 상자 19"/>
          <p:cNvSpPr txBox="1">
            <a:spLocks/>
          </p:cNvSpPr>
          <p:nvPr/>
        </p:nvSpPr>
        <p:spPr>
          <a:xfrm rot="0">
            <a:off x="2705735" y="2211705"/>
            <a:ext cx="13227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회</a:t>
            </a:r>
            <a:r>
              <a:rPr lang="ko-KR" sz="1800">
                <a:latin typeface="맑은 고딕" charset="0"/>
                <a:ea typeface="맑은 고딕" charset="0"/>
              </a:rPr>
              <a:t>원가입폼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20"/>
          <p:cNvSpPr>
            <a:spLocks/>
          </p:cNvSpPr>
          <p:nvPr/>
        </p:nvSpPr>
        <p:spPr>
          <a:xfrm rot="0">
            <a:off x="3219450" y="272542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I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4" name="텍스트 상자 22"/>
          <p:cNvSpPr txBox="1">
            <a:spLocks/>
          </p:cNvSpPr>
          <p:nvPr/>
        </p:nvSpPr>
        <p:spPr>
          <a:xfrm rot="0">
            <a:off x="2734945" y="2724785"/>
            <a:ext cx="405765" cy="370840"/>
          </a:xfrm>
          <a:prstGeom prst="rect"/>
          <a:noFill/>
          <a:ln w="9525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ID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30"/>
          <p:cNvSpPr>
            <a:spLocks/>
          </p:cNvSpPr>
          <p:nvPr/>
        </p:nvSpPr>
        <p:spPr>
          <a:xfrm rot="0">
            <a:off x="3251835" y="3349625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P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ASSWORD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31"/>
          <p:cNvSpPr txBox="1">
            <a:spLocks/>
          </p:cNvSpPr>
          <p:nvPr/>
        </p:nvSpPr>
        <p:spPr>
          <a:xfrm rot="0">
            <a:off x="2599055" y="3329940"/>
            <a:ext cx="63119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pass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32"/>
          <p:cNvSpPr>
            <a:spLocks/>
          </p:cNvSpPr>
          <p:nvPr/>
        </p:nvSpPr>
        <p:spPr>
          <a:xfrm rot="0">
            <a:off x="3214370" y="388620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이름입력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33"/>
          <p:cNvSpPr txBox="1">
            <a:spLocks/>
          </p:cNvSpPr>
          <p:nvPr/>
        </p:nvSpPr>
        <p:spPr>
          <a:xfrm rot="0">
            <a:off x="2601595" y="3954780"/>
            <a:ext cx="6369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이름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34"/>
          <p:cNvSpPr>
            <a:spLocks/>
          </p:cNvSpPr>
          <p:nvPr/>
        </p:nvSpPr>
        <p:spPr>
          <a:xfrm rot="0">
            <a:off x="3216910" y="4471035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나이입력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35"/>
          <p:cNvSpPr txBox="1">
            <a:spLocks/>
          </p:cNvSpPr>
          <p:nvPr/>
        </p:nvSpPr>
        <p:spPr>
          <a:xfrm rot="0">
            <a:off x="2593975" y="4490720"/>
            <a:ext cx="6369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나이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도형 36"/>
          <p:cNvSpPr>
            <a:spLocks/>
          </p:cNvSpPr>
          <p:nvPr/>
        </p:nvSpPr>
        <p:spPr>
          <a:xfrm rot="0">
            <a:off x="2981325" y="506539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가입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도형 37"/>
          <p:cNvSpPr>
            <a:spLocks/>
          </p:cNvSpPr>
          <p:nvPr/>
        </p:nvSpPr>
        <p:spPr>
          <a:xfrm rot="0">
            <a:off x="4031615" y="506793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취소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도형 40"/>
          <p:cNvSpPr>
            <a:spLocks/>
          </p:cNvSpPr>
          <p:nvPr/>
        </p:nvSpPr>
        <p:spPr>
          <a:xfrm rot="0">
            <a:off x="5927725" y="2015490"/>
            <a:ext cx="2716530" cy="3545840"/>
          </a:xfrm>
          <a:prstGeom prst="rect"/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41"/>
          <p:cNvSpPr txBox="1">
            <a:spLocks/>
          </p:cNvSpPr>
          <p:nvPr/>
        </p:nvSpPr>
        <p:spPr>
          <a:xfrm rot="0">
            <a:off x="6181725" y="2211705"/>
            <a:ext cx="129413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로그인폼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42"/>
          <p:cNvSpPr>
            <a:spLocks/>
          </p:cNvSpPr>
          <p:nvPr/>
        </p:nvSpPr>
        <p:spPr>
          <a:xfrm rot="0">
            <a:off x="6609080" y="309372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I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텍스트 상자 43"/>
          <p:cNvSpPr txBox="1">
            <a:spLocks/>
          </p:cNvSpPr>
          <p:nvPr/>
        </p:nvSpPr>
        <p:spPr>
          <a:xfrm rot="0">
            <a:off x="6124575" y="3093085"/>
            <a:ext cx="40513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D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44"/>
          <p:cNvSpPr>
            <a:spLocks/>
          </p:cNvSpPr>
          <p:nvPr/>
        </p:nvSpPr>
        <p:spPr>
          <a:xfrm rot="0">
            <a:off x="6612255" y="369824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P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ASSWORD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8" name="텍스트 상자 45"/>
          <p:cNvSpPr txBox="1">
            <a:spLocks/>
          </p:cNvSpPr>
          <p:nvPr/>
        </p:nvSpPr>
        <p:spPr>
          <a:xfrm rot="0">
            <a:off x="5939155" y="3767455"/>
            <a:ext cx="63119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pass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9" name="도형 46"/>
          <p:cNvSpPr>
            <a:spLocks/>
          </p:cNvSpPr>
          <p:nvPr/>
        </p:nvSpPr>
        <p:spPr>
          <a:xfrm rot="0">
            <a:off x="6341110" y="486092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도형 47"/>
          <p:cNvSpPr>
            <a:spLocks/>
          </p:cNvSpPr>
          <p:nvPr/>
        </p:nvSpPr>
        <p:spPr>
          <a:xfrm rot="0">
            <a:off x="7391400" y="486346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취소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1"/>
          <p:cNvSpPr>
            <a:spLocks/>
          </p:cNvSpPr>
          <p:nvPr/>
        </p:nvSpPr>
        <p:spPr>
          <a:xfrm rot="0">
            <a:off x="1115695" y="977265"/>
            <a:ext cx="9413240" cy="4980305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도형 6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" name="도형 1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" name="도형 1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" name="도형 17"/>
          <p:cNvSpPr>
            <a:spLocks/>
          </p:cNvSpPr>
          <p:nvPr/>
        </p:nvSpPr>
        <p:spPr>
          <a:xfrm rot="0">
            <a:off x="1283970" y="114490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19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" name="텍스트 상자 20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21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pic>
        <p:nvPicPr>
          <p:cNvPr id="11" name="그림 48" descr="C:/Users/sky88/AppData/Roaming/PolarisOffice/ETemp/1972_18047344/fImage2628122541.jpe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2705100" y="2557145"/>
            <a:ext cx="1866265" cy="1805305"/>
          </a:xfrm>
          <a:prstGeom prst="rect"/>
          <a:noFill/>
        </p:spPr>
      </p:pic>
      <p:pic>
        <p:nvPicPr>
          <p:cNvPr id="12" name="그림 49" descr="C:/Users/sky88/AppData/Roaming/PolarisOffice/ETemp/1972_18047344/fImage49762268467.jpe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872605" y="2567305"/>
            <a:ext cx="1965960" cy="1797685"/>
          </a:xfrm>
          <a:prstGeom prst="rect"/>
          <a:noFill/>
        </p:spPr>
      </p:pic>
      <p:pic>
        <p:nvPicPr>
          <p:cNvPr id="13" name="그림 50" descr="C:/Users/sky88/AppData/Roaming/PolarisOffice/ETemp/1972_18047344/fImage34002276334.jpe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4728845" y="2547620"/>
            <a:ext cx="1966595" cy="1807210"/>
          </a:xfrm>
          <a:prstGeom prst="rect"/>
          <a:noFill/>
        </p:spPr>
      </p:pic>
      <p:sp>
        <p:nvSpPr>
          <p:cNvPr id="14" name="도형 51"/>
          <p:cNvSpPr>
            <a:spLocks/>
          </p:cNvSpPr>
          <p:nvPr/>
        </p:nvSpPr>
        <p:spPr>
          <a:xfrm rot="0">
            <a:off x="4305300" y="4156710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53"/>
          <p:cNvSpPr>
            <a:spLocks/>
          </p:cNvSpPr>
          <p:nvPr/>
        </p:nvSpPr>
        <p:spPr>
          <a:xfrm rot="0">
            <a:off x="6450965" y="4178935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도형 54"/>
          <p:cNvSpPr>
            <a:spLocks/>
          </p:cNvSpPr>
          <p:nvPr/>
        </p:nvSpPr>
        <p:spPr>
          <a:xfrm rot="0">
            <a:off x="8586470" y="4151630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58"/>
          <p:cNvSpPr txBox="1">
            <a:spLocks/>
          </p:cNvSpPr>
          <p:nvPr/>
        </p:nvSpPr>
        <p:spPr>
          <a:xfrm rot="0">
            <a:off x="3011805" y="4937125"/>
            <a:ext cx="542163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  <a:hlinkClick r:id="rId6">
                  <a:extLst>
                    <a:ext uri="{A12FA001-AC4F-418D-AE19-62706E023703}">
                      <ahyp:hlinkClr xmlns:ahyp="http://schemas.microsoft.com/office/drawing/2018/hyperlinkcolor" xmlns="" val="hlink"/>
                    </a:ext>
                  </a:extLst>
                </a:hlinkClick>
              </a:rPr>
              <a:t>https://www.youtube.com/watch?v=5HPnDnlQ2CY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도형 76"/>
          <p:cNvSpPr>
            <a:spLocks/>
          </p:cNvSpPr>
          <p:nvPr/>
        </p:nvSpPr>
        <p:spPr>
          <a:xfrm rot="0">
            <a:off x="9084310" y="2141855"/>
            <a:ext cx="1146175" cy="338772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텍스트 상자 111"/>
          <p:cNvSpPr txBox="1">
            <a:spLocks/>
          </p:cNvSpPr>
          <p:nvPr/>
        </p:nvSpPr>
        <p:spPr>
          <a:xfrm rot="0">
            <a:off x="9212580" y="2734945"/>
            <a:ext cx="899160" cy="23082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i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ite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설명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팜플릿??/</a:t>
            </a:r>
            <a:r>
              <a:rPr lang="ko-KR" sz="1800">
                <a:latin typeface="맑은 고딕" charset="0"/>
                <a:ea typeface="맑은 고딕" charset="0"/>
              </a:rPr>
              <a:t>p</a:t>
            </a:r>
            <a:r>
              <a:rPr lang="ko-KR" sz="1800">
                <a:latin typeface="맑은 고딕" charset="0"/>
                <a:ea typeface="맑은 고딕" charset="0"/>
              </a:rPr>
              <a:t>opup</a:t>
            </a:r>
            <a:r>
              <a:rPr lang="ko-KR" sz="1800">
                <a:latin typeface="맑은 고딕" charset="0"/>
                <a:ea typeface="맑은 고딕" charset="0"/>
              </a:rPr>
              <a:t>m</a:t>
            </a:r>
            <a:r>
              <a:rPr lang="ko-KR" sz="1800">
                <a:latin typeface="맑은 고딕" charset="0"/>
                <a:ea typeface="맑은 고딕" charset="0"/>
              </a:rPr>
              <a:t>enu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2"/>
          <p:cNvSpPr>
            <a:spLocks/>
          </p:cNvSpPr>
          <p:nvPr/>
        </p:nvSpPr>
        <p:spPr>
          <a:xfrm rot="0">
            <a:off x="1087755" y="1016635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텍스트 상자 5"/>
          <p:cNvSpPr txBox="1">
            <a:spLocks/>
          </p:cNvSpPr>
          <p:nvPr/>
        </p:nvSpPr>
        <p:spPr>
          <a:xfrm rot="0">
            <a:off x="1838960" y="1875790"/>
            <a:ext cx="262001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텍스트 상자 6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텍스트 상자 7"/>
          <p:cNvSpPr txBox="1">
            <a:spLocks/>
          </p:cNvSpPr>
          <p:nvPr/>
        </p:nvSpPr>
        <p:spPr>
          <a:xfrm rot="0">
            <a:off x="1974850" y="4311650"/>
            <a:ext cx="2089150" cy="64706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도형 8"/>
          <p:cNvCxnSpPr/>
          <p:nvPr/>
        </p:nvCxnSpPr>
        <p:spPr>
          <a:xfrm rot="0">
            <a:off x="3153410" y="3950970"/>
            <a:ext cx="7620" cy="345440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텍스트 상자 10"/>
          <p:cNvSpPr txBox="1">
            <a:spLocks/>
          </p:cNvSpPr>
          <p:nvPr/>
        </p:nvSpPr>
        <p:spPr>
          <a:xfrm rot="0">
            <a:off x="5243195" y="1797050"/>
            <a:ext cx="109474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2"/>
          <p:cNvSpPr txBox="1">
            <a:spLocks/>
          </p:cNvSpPr>
          <p:nvPr/>
        </p:nvSpPr>
        <p:spPr>
          <a:xfrm rot="0">
            <a:off x="5026660" y="2300605"/>
            <a:ext cx="3002915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스마트팜 현황 한눈에 보기!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13"/>
          <p:cNvSpPr>
            <a:spLocks/>
          </p:cNvSpPr>
          <p:nvPr/>
        </p:nvSpPr>
        <p:spPr>
          <a:xfrm rot="0">
            <a:off x="5184140" y="285369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15"/>
          <p:cNvSpPr>
            <a:spLocks/>
          </p:cNvSpPr>
          <p:nvPr/>
        </p:nvSpPr>
        <p:spPr>
          <a:xfrm rot="0">
            <a:off x="6381750" y="285623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16"/>
          <p:cNvSpPr>
            <a:spLocks/>
          </p:cNvSpPr>
          <p:nvPr/>
        </p:nvSpPr>
        <p:spPr>
          <a:xfrm rot="0">
            <a:off x="7588885" y="284924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17"/>
          <p:cNvSpPr>
            <a:spLocks/>
          </p:cNvSpPr>
          <p:nvPr/>
        </p:nvSpPr>
        <p:spPr>
          <a:xfrm rot="0">
            <a:off x="8786495" y="285178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텍스트 상자 18"/>
          <p:cNvSpPr txBox="1">
            <a:spLocks/>
          </p:cNvSpPr>
          <p:nvPr/>
        </p:nvSpPr>
        <p:spPr>
          <a:xfrm rot="0">
            <a:off x="5193665" y="2941955"/>
            <a:ext cx="306705" cy="25463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이번 달 예상 수확량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19"/>
          <p:cNvSpPr txBox="1">
            <a:spLocks/>
          </p:cNvSpPr>
          <p:nvPr/>
        </p:nvSpPr>
        <p:spPr>
          <a:xfrm rot="0">
            <a:off x="6391275" y="2983865"/>
            <a:ext cx="306705" cy="25463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평균 품질 점수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20"/>
          <p:cNvSpPr txBox="1">
            <a:spLocks/>
          </p:cNvSpPr>
          <p:nvPr/>
        </p:nvSpPr>
        <p:spPr>
          <a:xfrm rot="0">
            <a:off x="7578725" y="2907665"/>
            <a:ext cx="953770" cy="41592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재배식물</a:t>
            </a:r>
            <a:r>
              <a:rPr sz="1050" i="0" b="0">
                <a:latin typeface="Segoe UI Emoji" charset="0"/>
                <a:ea typeface="ui-sans-serif" charset="0"/>
              </a:rPr>
              <a:t> 현재가 (소매)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21"/>
          <p:cNvSpPr txBox="1">
            <a:spLocks/>
          </p:cNvSpPr>
          <p:nvPr/>
        </p:nvSpPr>
        <p:spPr>
          <a:xfrm rot="0">
            <a:off x="8813165" y="2986405"/>
            <a:ext cx="24574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예측 수익률</a:t>
            </a:r>
            <a:r>
              <a:rPr lang="ko-KR" sz="1800">
                <a:latin typeface="맑은 고딕" charset="0"/>
                <a:ea typeface="맑은 고딕" charset="0"/>
              </a:rPr>
              <a:t>!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22"/>
          <p:cNvSpPr>
            <a:spLocks/>
          </p:cNvSpPr>
          <p:nvPr/>
        </p:nvSpPr>
        <p:spPr>
          <a:xfrm rot="0">
            <a:off x="5105400" y="376174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도형 24"/>
          <p:cNvSpPr>
            <a:spLocks/>
          </p:cNvSpPr>
          <p:nvPr/>
        </p:nvSpPr>
        <p:spPr>
          <a:xfrm rot="0">
            <a:off x="7853045" y="376428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5"/>
          <p:cNvSpPr txBox="1">
            <a:spLocks/>
          </p:cNvSpPr>
          <p:nvPr/>
        </p:nvSpPr>
        <p:spPr>
          <a:xfrm rot="0">
            <a:off x="5441315" y="3909695"/>
            <a:ext cx="140335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생산량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6"/>
          <p:cNvSpPr txBox="1">
            <a:spLocks/>
          </p:cNvSpPr>
          <p:nvPr/>
        </p:nvSpPr>
        <p:spPr>
          <a:xfrm rot="0">
            <a:off x="5243830" y="4284980"/>
            <a:ext cx="193040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막대그래프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생산량 (kg)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품질 점수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29"/>
          <p:cNvSpPr txBox="1">
            <a:spLocks/>
          </p:cNvSpPr>
          <p:nvPr/>
        </p:nvSpPr>
        <p:spPr>
          <a:xfrm rot="0">
            <a:off x="8050530" y="3912235"/>
            <a:ext cx="204216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토마토 </a:t>
            </a:r>
            <a:r>
              <a:rPr lang="ko-KR"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30"/>
          <p:cNvSpPr txBox="1">
            <a:spLocks/>
          </p:cNvSpPr>
          <p:nvPr/>
        </p:nvSpPr>
        <p:spPr>
          <a:xfrm rot="0">
            <a:off x="7961630" y="4228465"/>
            <a:ext cx="223964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꺽은선 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도매가 (원/kg)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소매가 (원/kg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31"/>
          <p:cNvSpPr>
            <a:spLocks/>
          </p:cNvSpPr>
          <p:nvPr/>
        </p:nvSpPr>
        <p:spPr>
          <a:xfrm>
            <a:off x="5668010" y="4975860"/>
            <a:ext cx="3279775" cy="85090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재배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현황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수확까지 일/날짜로 표시하기(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파프리카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위주로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도형 22"/>
          <p:cNvSpPr>
            <a:spLocks/>
          </p:cNvSpPr>
          <p:nvPr/>
        </p:nvSpPr>
        <p:spPr>
          <a:xfrm rot="0">
            <a:off x="1086485" y="101663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23"/>
          <p:cNvSpPr>
            <a:spLocks/>
          </p:cNvSpPr>
          <p:nvPr/>
        </p:nvSpPr>
        <p:spPr>
          <a:xfrm rot="0">
            <a:off x="6773545" y="124333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8" name="도형 24"/>
          <p:cNvSpPr>
            <a:spLocks/>
          </p:cNvSpPr>
          <p:nvPr/>
        </p:nvSpPr>
        <p:spPr>
          <a:xfrm rot="0">
            <a:off x="9103995" y="122364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9" name="도형 25"/>
          <p:cNvSpPr>
            <a:spLocks/>
          </p:cNvSpPr>
          <p:nvPr/>
        </p:nvSpPr>
        <p:spPr>
          <a:xfrm rot="0">
            <a:off x="1244600" y="118427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텍스트 상자 26"/>
          <p:cNvSpPr txBox="1">
            <a:spLocks/>
          </p:cNvSpPr>
          <p:nvPr/>
        </p:nvSpPr>
        <p:spPr>
          <a:xfrm rot="0">
            <a:off x="2557780" y="123444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1" name="텍스트 상자 27"/>
          <p:cNvSpPr txBox="1">
            <a:spLocks/>
          </p:cNvSpPr>
          <p:nvPr/>
        </p:nvSpPr>
        <p:spPr>
          <a:xfrm rot="0">
            <a:off x="3656330" y="124650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2" name="텍스트 상자 28"/>
          <p:cNvSpPr txBox="1">
            <a:spLocks/>
          </p:cNvSpPr>
          <p:nvPr/>
        </p:nvSpPr>
        <p:spPr>
          <a:xfrm rot="0">
            <a:off x="5031740" y="122936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75790" y="1913255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743835" y="4452620"/>
            <a:ext cx="2105660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 flipH="1">
            <a:off x="3244850" y="3912870"/>
            <a:ext cx="3175" cy="56197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964430" y="2278380"/>
            <a:ext cx="3990340" cy="2787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축적된 농가 데이터를 분석하여 최적 환경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 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추천서비스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5"/>
          <p:cNvSpPr>
            <a:spLocks/>
          </p:cNvSpPr>
          <p:nvPr/>
        </p:nvSpPr>
        <p:spPr>
          <a:xfrm rot="0">
            <a:off x="5509895" y="2705100"/>
            <a:ext cx="3615055" cy="92900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업로드(환경데이터,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생육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생산량데이터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-ㅡ csv나 xl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x파일들)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2" name="도형 37"/>
          <p:cNvSpPr>
            <a:spLocks/>
          </p:cNvSpPr>
          <p:nvPr/>
        </p:nvSpPr>
        <p:spPr>
          <a:xfrm rot="0">
            <a:off x="9082405" y="1979295"/>
            <a:ext cx="1363980" cy="48514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ai분석버튼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1"/>
          <p:cNvSpPr>
            <a:spLocks/>
          </p:cNvSpPr>
          <p:nvPr/>
        </p:nvSpPr>
        <p:spPr>
          <a:xfrm>
            <a:off x="5312410" y="4008755"/>
            <a:ext cx="4247515" cy="152209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분석한 축적된 농가의 데이터들이 나오게끔 할 예정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임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29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3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3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32"/>
          <p:cNvSpPr>
            <a:spLocks/>
          </p:cNvSpPr>
          <p:nvPr/>
        </p:nvSpPr>
        <p:spPr>
          <a:xfrm rot="0">
            <a:off x="1283970" y="1144905"/>
            <a:ext cx="1066800" cy="54419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H</a:t>
            </a:r>
            <a:r>
              <a:rPr lang="ko-KR" sz="1800">
                <a:latin typeface="맑은 고딕" charset="0"/>
                <a:ea typeface="맑은 고딕" charset="0"/>
              </a:rPr>
              <a:t>ea</a:t>
            </a:r>
            <a:r>
              <a:rPr lang="ko-KR" sz="1800">
                <a:latin typeface="맑은 고딕" charset="0"/>
                <a:ea typeface="맑은 고딕" charset="0"/>
              </a:rPr>
              <a:t>de</a:t>
            </a:r>
            <a:r>
              <a:rPr lang="ko-KR" sz="1800">
                <a:latin typeface="맑은 고딕" charset="0"/>
                <a:ea typeface="맑은 고딕" charset="0"/>
              </a:rPr>
              <a:t>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33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34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35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16965" y="1026160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94840" y="1903730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490470" y="4443095"/>
            <a:ext cx="216217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088005" y="3931920"/>
            <a:ext cx="7620" cy="47688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173980" y="1905635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622165" y="2428875"/>
            <a:ext cx="3990340" cy="46355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도/소매가 분석과 날씨 데이터를 연동하여 정확한 가격예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측하기!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9"/>
          <p:cNvSpPr>
            <a:spLocks/>
          </p:cNvSpPr>
          <p:nvPr/>
        </p:nvSpPr>
        <p:spPr>
          <a:xfrm rot="0">
            <a:off x="8801100" y="1943735"/>
            <a:ext cx="1670685" cy="48577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가격예측실행버튼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3"/>
          <p:cNvSpPr>
            <a:spLocks/>
          </p:cNvSpPr>
          <p:nvPr/>
        </p:nvSpPr>
        <p:spPr>
          <a:xfrm rot="0">
            <a:off x="5381625" y="3110230"/>
            <a:ext cx="4078605" cy="123507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날씨데이터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들의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모아서 차례대로 나오게끔 1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t/2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n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d/3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r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4</a:t>
            </a:r>
            <a:r>
              <a:rPr lang="ko-KR" sz="1800" baseline="30000">
                <a:solidFill>
                  <a:schemeClr val="tx1"/>
                </a:solidFill>
                <a:latin typeface="맑은 고딕" charset="0"/>
                <a:ea typeface="맑은 고딕" charset="0"/>
              </a:rPr>
              <a:t>th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순으로!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5" name="도형 5"/>
          <p:cNvSpPr>
            <a:spLocks/>
          </p:cNvSpPr>
          <p:nvPr/>
        </p:nvSpPr>
        <p:spPr>
          <a:xfrm>
            <a:off x="5372100" y="4443095"/>
            <a:ext cx="4128770" cy="1353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도/소매가 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기별 분석 / 최적 판매 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시기 알림데이터들이 같이나오게!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43"/>
          <p:cNvSpPr>
            <a:spLocks/>
          </p:cNvSpPr>
          <p:nvPr/>
        </p:nvSpPr>
        <p:spPr>
          <a:xfrm rot="0">
            <a:off x="1115695" y="102679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44"/>
          <p:cNvSpPr>
            <a:spLocks/>
          </p:cNvSpPr>
          <p:nvPr/>
        </p:nvSpPr>
        <p:spPr>
          <a:xfrm rot="0">
            <a:off x="6802755" y="125349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45"/>
          <p:cNvSpPr>
            <a:spLocks/>
          </p:cNvSpPr>
          <p:nvPr/>
        </p:nvSpPr>
        <p:spPr>
          <a:xfrm rot="0">
            <a:off x="9133205" y="123380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46"/>
          <p:cNvSpPr>
            <a:spLocks/>
          </p:cNvSpPr>
          <p:nvPr/>
        </p:nvSpPr>
        <p:spPr>
          <a:xfrm rot="0">
            <a:off x="1273810" y="119443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47"/>
          <p:cNvSpPr txBox="1">
            <a:spLocks/>
          </p:cNvSpPr>
          <p:nvPr/>
        </p:nvSpPr>
        <p:spPr>
          <a:xfrm rot="0">
            <a:off x="2586990" y="124460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48"/>
          <p:cNvSpPr txBox="1">
            <a:spLocks/>
          </p:cNvSpPr>
          <p:nvPr/>
        </p:nvSpPr>
        <p:spPr>
          <a:xfrm rot="0">
            <a:off x="3685540" y="125666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49"/>
          <p:cNvSpPr txBox="1">
            <a:spLocks/>
          </p:cNvSpPr>
          <p:nvPr/>
        </p:nvSpPr>
        <p:spPr>
          <a:xfrm rot="0">
            <a:off x="5060950" y="123952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상자 5"/>
          <p:cNvSpPr txBox="1">
            <a:spLocks/>
          </p:cNvSpPr>
          <p:nvPr/>
        </p:nvSpPr>
        <p:spPr>
          <a:xfrm rot="0">
            <a:off x="1224280" y="1007110"/>
            <a:ext cx="3713480" cy="9239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5400" b="1">
                <a:solidFill>
                  <a:schemeClr val="accent1">
                    <a:lumMod val="50000"/>
                    <a:lumOff val="0"/>
                  </a:schemeClr>
                </a:solidFill>
                <a:latin typeface="나눔고딕 ExtraBold" charset="0"/>
                <a:ea typeface="나눔고딕 ExtraBold" charset="0"/>
              </a:rPr>
              <a:t>감사합니다!</a:t>
            </a:r>
            <a:endParaRPr lang="ko-KR" altLang="en-US" sz="5400" b="1">
              <a:solidFill>
                <a:schemeClr val="accent1">
                  <a:lumMod val="50000"/>
                  <a:lumOff val="0"/>
                </a:schemeClr>
              </a:solidFill>
              <a:latin typeface="나눔고딕 ExtraBold" charset="0"/>
              <a:ea typeface="나눔고딕 ExtraBol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7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