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91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8" r:id="rId21"/>
    <p:sldId id="259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4" Type="http://schemas.openxmlformats.org/officeDocument/2006/relationships/viewProps" Target="viewProps.xml"></Relationship><Relationship Id="rId25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3251611441.png"></Relationship><Relationship Id="rId3" Type="http://schemas.openxmlformats.org/officeDocument/2006/relationships/image" Target="../media/fImage366761158467.png"></Relationship><Relationship Id="rId4" Type="http://schemas.openxmlformats.org/officeDocument/2006/relationships/image" Target="../media/fImage336081166334.png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hyperlink" Target="https://www.data.go.kr/data/15108734/fileData.do?utm_source=chatgpt.com" TargetMode="External"></Relationship><Relationship Id="rId3" Type="http://schemas.openxmlformats.org/officeDocument/2006/relationships/hyperlink" Target="https://www.data.go.kr/data/15042594/openapi.do?utm_source=chatgpt.com" TargetMode="External"></Relationship><Relationship Id="rId4" Type="http://schemas.openxmlformats.org/officeDocument/2006/relationships/hyperlink" Target="https://www.data.go.kr/data/15090544/fileData.do?recommendDataYn=Y&amp;utm_source=chatgpt.com" TargetMode="External"></Relationship><Relationship Id="rId5" Type="http://schemas.openxmlformats.org/officeDocument/2006/relationships/hyperlink" Target="https://www.smartfarmkorea.net/datamart/fclty/list.do#" TargetMode="External"></Relationship><Relationship Id="rId6" Type="http://schemas.openxmlformats.org/officeDocument/2006/relationships/hyperlink" Target="https://www.n-farm.kr/data-product/dataset-list/06e82a10-7aae-11ed-97bb-6f26d3751f0f/" TargetMode="External"></Relationship><Relationship Id="rId7" Type="http://schemas.openxmlformats.org/officeDocument/2006/relationships/hyperlink" Target="https://data.kma.go.kr/data/rmt/rmtList.do?code=420&amp;pgmNo=572" TargetMode="External"></Relationship><Relationship Id="rId8" Type="http://schemas.openxmlformats.org/officeDocument/2006/relationships/hyperlink" Target="https://www.kamis.or.kr/customer/main/main.do" TargetMode="External"></Relationship><Relationship Id="rId9" Type="http://schemas.openxmlformats.org/officeDocument/2006/relationships/hyperlink" Target="https://www.data.go.kr/data/15121324/openapi.do" TargetMode="External"></Relationship><Relationship Id="rId10" Type="http://schemas.openxmlformats.org/officeDocument/2006/relationships/hyperlink" Target="https://drive.google.com/file/d/1RZrvrqdl1CA5Tlo7AgRLuz5V6aRWmRiu/view?usp=drive_link" TargetMode="Externa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상자 1"/>
          <p:cNvSpPr txBox="1">
            <a:spLocks/>
          </p:cNvSpPr>
          <p:nvPr/>
        </p:nvSpPr>
        <p:spPr>
          <a:xfrm rot="0">
            <a:off x="5393055" y="4314825"/>
            <a:ext cx="1296035" cy="277495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0" indent="0" algn="l" hangingPunct="1"/>
            <a:r>
              <a:rPr sz="1800">
                <a:latin typeface="맑은 고딕" charset="0"/>
                <a:ea typeface="맑은 고딕" charset="0"/>
              </a:rPr>
              <a:t>2</a:t>
            </a:r>
            <a:r>
              <a:rPr sz="1800">
                <a:latin typeface="맑은 고딕" charset="0"/>
                <a:ea typeface="맑은 고딕" charset="0"/>
              </a:rPr>
              <a:t>026-03-26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2"/>
          <p:cNvSpPr txBox="1">
            <a:spLocks/>
          </p:cNvSpPr>
          <p:nvPr/>
        </p:nvSpPr>
        <p:spPr>
          <a:xfrm rot="0">
            <a:off x="1797050" y="1856740"/>
            <a:ext cx="8995410" cy="147828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20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AI 기술을 활용한 데이터 분석을 통해 딸기 스마트팜 농가에 </a:t>
            </a:r>
            <a:r>
              <a:rPr sz="2000" b="1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최적화된 환경</a:t>
            </a:r>
            <a:r>
              <a:rPr sz="20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을 제시하고,</a:t>
            </a:r>
            <a:r>
              <a:rPr sz="20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sz="20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날씨에 따른 전국 </a:t>
            </a:r>
            <a:r>
              <a:rPr sz="20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파프리카</a:t>
            </a:r>
            <a:r>
              <a:rPr sz="20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 출하량을 예측하여 농가의 </a:t>
            </a:r>
            <a:r>
              <a:rPr sz="2000" b="1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수익을 극대화</a:t>
            </a:r>
            <a:r>
              <a:rPr sz="2000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하는 서비스를 제공한다.</a:t>
            </a:r>
            <a:endParaRPr lang="ko-KR" altLang="en-US" sz="2800" b="1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기획의도</a:t>
            </a:r>
            <a:endParaRPr lang="ko-KR" altLang="en-US"/>
          </a:p>
        </p:txBody>
      </p:sp>
      <p:sp>
        <p:nvSpPr>
          <p:cNvPr id="3" name="도형 5"/>
          <p:cNvSpPr>
            <a:spLocks/>
          </p:cNvSpPr>
          <p:nvPr/>
        </p:nvSpPr>
        <p:spPr>
          <a:xfrm rot="0">
            <a:off x="3102610" y="3717925"/>
            <a:ext cx="6278245" cy="655955"/>
          </a:xfrm>
          <a:prstGeom prst="roundRect"/>
          <a:solidFill>
            <a:srgbClr val="156082"/>
          </a:solidFill>
          <a:ln cap="flat" cmpd="sng">
            <a:solidFill>
              <a:srgbClr val="042433">
                <a:alpha val="100000"/>
              </a:srgbClr>
            </a:solidFill>
            <a:prstDash val="solid"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파프리카</a:t>
            </a: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 스마트팜에서의 환경 제어</a:t>
            </a: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,</a:t>
            </a: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lang="ko-KR" sz="1800">
                <a:latin typeface="맑은 고딕" charset="0"/>
                <a:ea typeface="맑은 고딕" charset="0"/>
                <a:sym typeface="맑은 고딕" charset="0"/>
              </a:rPr>
              <a:t>온실 재배기술 </a:t>
            </a:r>
            <a:r>
              <a:rPr lang="ko-KR" sz="1800">
                <a:latin typeface="맑은 고딕" charset="0"/>
                <a:ea typeface="맑은 고딕" charset="0"/>
                <a:sym typeface="맑은 고딕" charset="0"/>
              </a:rPr>
              <a:t>관리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도형 6"/>
          <p:cNvSpPr>
            <a:spLocks/>
          </p:cNvSpPr>
          <p:nvPr/>
        </p:nvSpPr>
        <p:spPr>
          <a:xfrm rot="0">
            <a:off x="3170555" y="5497195"/>
            <a:ext cx="5987415" cy="655955"/>
          </a:xfrm>
          <a:prstGeom prst="roundRect"/>
          <a:solidFill>
            <a:srgbClr val="156082"/>
          </a:solidFill>
          <a:ln cap="flat" cmpd="sng">
            <a:solidFill>
              <a:srgbClr val="042433">
                <a:alpha val="100000"/>
              </a:srgbClr>
            </a:solidFill>
            <a:prstDash val="solid"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데이터 분석을 통해 최적화된 환경제어 필요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도형 7"/>
          <p:cNvSpPr>
            <a:spLocks/>
          </p:cNvSpPr>
          <p:nvPr/>
        </p:nvSpPr>
        <p:spPr>
          <a:xfrm rot="0">
            <a:off x="5748020" y="4650105"/>
            <a:ext cx="696595" cy="532765"/>
          </a:xfrm>
          <a:prstGeom prst="downArrow"/>
          <a:solidFill>
            <a:srgbClr val="156082"/>
          </a:solidFill>
          <a:ln cap="flat" cmpd="sng">
            <a:solidFill>
              <a:srgbClr val="042433">
                <a:alpha val="100000"/>
              </a:srgbClr>
            </a:solidFill>
            <a:prstDash val="solid"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pic>
        <p:nvPicPr>
          <p:cNvPr id="6" name="그림 8" descr="C:/Users/sky88/AppData/Roaming/PolarisOffice/ETemp/21132_17088376/fImage32516114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87705" y="1516380"/>
            <a:ext cx="2783205" cy="1465580"/>
          </a:xfrm>
          <a:prstGeom prst="rect"/>
          <a:noFill/>
        </p:spPr>
      </p:pic>
      <p:pic>
        <p:nvPicPr>
          <p:cNvPr id="7" name="그림 9" descr="C:/Users/sky88/AppData/Roaming/PolarisOffice/ETemp/21132_17088376/fImage3667611584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823200" y="1522095"/>
            <a:ext cx="4207510" cy="1368425"/>
          </a:xfrm>
          <a:prstGeom prst="rect"/>
          <a:noFill/>
        </p:spPr>
      </p:pic>
      <p:pic>
        <p:nvPicPr>
          <p:cNvPr id="8" name="그림 10" descr="C:/Users/sky88/AppData/Roaming/PolarisOffice/ETemp/21132_17088376/fImage33608116633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017645" y="1512570"/>
            <a:ext cx="3072765" cy="147256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528320" y="-444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기획목표</a:t>
            </a:r>
            <a:endParaRPr lang="ko-KR" altLang="en-US"/>
          </a:p>
        </p:txBody>
      </p:sp>
      <p:sp>
        <p:nvSpPr>
          <p:cNvPr id="3" name="텍스트 상자 11"/>
          <p:cNvSpPr txBox="1">
            <a:spLocks/>
          </p:cNvSpPr>
          <p:nvPr/>
        </p:nvSpPr>
        <p:spPr>
          <a:xfrm rot="0">
            <a:off x="532130" y="930910"/>
            <a:ext cx="11129010" cy="4552950"/>
          </a:xfrm>
          <a:prstGeom prst="rect"/>
          <a:noFill/>
        </p:spPr>
        <p:txBody>
          <a:bodyPr wrap="square" lIns="91440" tIns="45720" rIns="91440" bIns="45720" vert="horz" anchor="t">
            <a:spAutoFit/>
          </a:bodyPr>
          <a:lstStyle/>
          <a:p>
            <a:pPr marL="0" indent="0" rtl="0" algn="l" defTabSz="914400" eaLnBrk="1" latinLnBrk="1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  <a:sym typeface="맑은 고딕" charset="0"/>
              </a:rPr>
              <a:t>1) 재배환경 데이터 분석 서비스</a:t>
            </a:r>
            <a:endParaRPr lang="ko-KR" altLang="en-US" sz="1800" b="1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: 농가가 보유한 재배환경, 생육, 생산량 데이터를 업로드하여 </a:t>
            </a:r>
            <a:r>
              <a:rPr sz="1800">
                <a:solidFill>
                  <a:schemeClr val="accent4">
                    <a:lumMod val="60000"/>
                    <a:lumOff val="40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해당 농가에 맞는 최적의 재배환경을 추천</a:t>
            </a:r>
            <a:endParaRPr lang="ko-KR" altLang="en-US" sz="1800">
              <a:solidFill>
                <a:schemeClr val="accent4">
                  <a:lumMod val="60000"/>
                  <a:lumOff val="40000"/>
                </a:schemeClr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﻿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latin typeface="맑은 고딕" charset="0"/>
                <a:ea typeface="맑은 고딕" charset="0"/>
                <a:sym typeface="맑은 고딕" charset="0"/>
              </a:rPr>
              <a:t>a) 환경-출하량 분석모델 개발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latin typeface="맑은 고딕" charset="0"/>
                <a:ea typeface="맑은 고딕" charset="0"/>
                <a:sym typeface="맑은 고딕" charset="0"/>
              </a:rPr>
              <a:t>Input Data : 평균온도(℃), 평균습도(%), 누적일사량(J/㎠), 잔존 Co2 평균(ppm)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latin typeface="맑은 고딕" charset="0"/>
                <a:ea typeface="맑은 고딕" charset="0"/>
                <a:sym typeface="맑은 고딕" charset="0"/>
              </a:rPr>
              <a:t>Output Data : 출하량(kg)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latin typeface="맑은 고딕" charset="0"/>
                <a:ea typeface="맑은 고딕" charset="0"/>
                <a:sym typeface="맑은 고딕" charset="0"/>
              </a:rPr>
              <a:t>b) 환경-생육 분석모델 개발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latin typeface="맑은 고딕" charset="0"/>
                <a:ea typeface="맑은 고딕" charset="0"/>
                <a:sym typeface="맑은 고딕" charset="0"/>
              </a:rPr>
              <a:t>Input Data : 평균온도(℃), 평균습도(%), 누적일사량(J/㎠), 잔존 Co2 평균(ppm)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400">
                <a:latin typeface="맑은 고딕" charset="0"/>
                <a:ea typeface="맑은 고딕" charset="0"/>
                <a:sym typeface="맑은 고딕" charset="0"/>
              </a:rPr>
              <a:t>output data : 초장길이 변화값(cm)</a:t>
            </a:r>
            <a:endParaRPr lang="ko-KR" altLang="en-US" sz="14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800" b="1">
                <a:latin typeface="맑은 고딕" charset="0"/>
                <a:ea typeface="맑은 고딕" charset="0"/>
                <a:sym typeface="맑은 고딕" charset="0"/>
              </a:rPr>
              <a:t>2) 날씨 기반 출하시기 예측 서비스</a:t>
            </a:r>
            <a:endParaRPr lang="ko-KR" altLang="en-US" sz="1800" b="1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: 시기별</a:t>
            </a: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 </a:t>
            </a: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파프리카</a:t>
            </a: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 도매가격을 토대로 </a:t>
            </a:r>
            <a:r>
              <a:rPr sz="1800">
                <a:solidFill>
                  <a:schemeClr val="accent4">
                    <a:lumMod val="60000"/>
                    <a:lumOff val="40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출하시점의 예상 수익을 제시</a:t>
            </a: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하고, 기상청 날씨 예보와 조합하여 단기/중기/장기 </a:t>
            </a:r>
            <a:r>
              <a:rPr sz="1800">
                <a:solidFill>
                  <a:schemeClr val="accent4">
                    <a:lumMod val="60000"/>
                    <a:lumOff val="40000"/>
                  </a:schemeClr>
                </a:solidFill>
                <a:latin typeface="맑은 고딕" charset="0"/>
                <a:ea typeface="맑은 고딕" charset="0"/>
                <a:sym typeface="맑은 고딕" charset="0"/>
              </a:rPr>
              <a:t>출하전략을 지원</a:t>
            </a: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한다.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endParaRPr lang="ko-KR" altLang="en-US" sz="16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endParaRPr lang="ko-KR" altLang="en-US" sz="1600"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l" defTabSz="914400" eaLnBrk="1" latinLnBrk="1" hangingPunct="1">
              <a:buFontTx/>
              <a:buNone/>
            </a:pPr>
            <a:endParaRPr lang="ko-KR" altLang="en-US" sz="16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4" name="도형 12"/>
          <p:cNvSpPr>
            <a:spLocks/>
          </p:cNvSpPr>
          <p:nvPr/>
        </p:nvSpPr>
        <p:spPr>
          <a:xfrm rot="0">
            <a:off x="1003935" y="4976495"/>
            <a:ext cx="2624455" cy="508635"/>
          </a:xfrm>
          <a:prstGeom prst="roundRect"/>
          <a:solidFill>
            <a:srgbClr val="156082"/>
          </a:solidFill>
          <a:ln cap="flat" cmpd="sng">
            <a:solidFill>
              <a:srgbClr val="042433">
                <a:alpha val="100000"/>
              </a:srgbClr>
            </a:solidFill>
            <a:prstDash val="solid"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시기별 도매가격 추이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5" name="도형 13"/>
          <p:cNvSpPr>
            <a:spLocks/>
          </p:cNvSpPr>
          <p:nvPr/>
        </p:nvSpPr>
        <p:spPr>
          <a:xfrm rot="0">
            <a:off x="4784090" y="4976495"/>
            <a:ext cx="2624455" cy="508635"/>
          </a:xfrm>
          <a:prstGeom prst="roundRect"/>
          <a:solidFill>
            <a:srgbClr val="156082"/>
          </a:solidFill>
          <a:ln cap="flat" cmpd="sng">
            <a:solidFill>
              <a:srgbClr val="042433">
                <a:alpha val="100000"/>
              </a:srgbClr>
            </a:solidFill>
            <a:prstDash val="solid"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기상청 날씨 예보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6" name="도형 14"/>
          <p:cNvSpPr>
            <a:spLocks/>
          </p:cNvSpPr>
          <p:nvPr/>
        </p:nvSpPr>
        <p:spPr>
          <a:xfrm rot="0">
            <a:off x="8648065" y="4982845"/>
            <a:ext cx="2624455" cy="508635"/>
          </a:xfrm>
          <a:prstGeom prst="roundRect"/>
          <a:solidFill>
            <a:srgbClr val="156082"/>
          </a:solidFill>
          <a:ln cap="flat" cmpd="sng">
            <a:solidFill>
              <a:srgbClr val="042433">
                <a:alpha val="100000"/>
              </a:srgbClr>
            </a:solidFill>
            <a:prstDash val="solid"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환경에 따른 생육속도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7" name="도형 15"/>
          <p:cNvSpPr>
            <a:spLocks/>
          </p:cNvSpPr>
          <p:nvPr/>
        </p:nvSpPr>
        <p:spPr>
          <a:xfrm rot="0">
            <a:off x="2816860" y="5949315"/>
            <a:ext cx="6558915" cy="508635"/>
          </a:xfrm>
          <a:prstGeom prst="roundRect"/>
          <a:solidFill>
            <a:srgbClr val="156082"/>
          </a:solidFill>
          <a:ln cap="flat" cmpd="sng">
            <a:solidFill>
              <a:srgbClr val="042433">
                <a:alpha val="100000"/>
              </a:srgbClr>
            </a:solidFill>
            <a:prstDash val="solid"/>
          </a:ln>
        </p:spPr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1" hangingPunct="1">
              <a:buFontTx/>
              <a:buNone/>
            </a:pPr>
            <a:r>
              <a:rPr sz="1800">
                <a:latin typeface="맑은 고딕" charset="0"/>
                <a:ea typeface="맑은 고딕" charset="0"/>
                <a:sym typeface="맑은 고딕" charset="0"/>
              </a:rPr>
              <a:t>출하시기 추천</a:t>
            </a:r>
            <a:endParaRPr lang="ko-KR" altLang="en-US" sz="1800"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8" name="도형 16"/>
          <p:cNvCxnSpPr>
            <a:endCxn id="7" idx="0"/>
          </p:cNvCxnSpPr>
          <p:nvPr/>
        </p:nvCxnSpPr>
        <p:spPr>
          <a:xfrm rot="0">
            <a:off x="2315845" y="5484495"/>
            <a:ext cx="3780790" cy="464820"/>
          </a:xfrm>
          <a:prstGeom prst="straightConnector1"/>
          <a:ln w="12700" cap="flat" cmpd="sng">
            <a:prstDash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도형 17"/>
          <p:cNvCxnSpPr>
            <a:stCxn id="5" idx="2"/>
            <a:endCxn id="7" idx="0"/>
          </p:cNvCxnSpPr>
          <p:nvPr/>
        </p:nvCxnSpPr>
        <p:spPr>
          <a:xfrm rot="0">
            <a:off x="6096000" y="5484495"/>
            <a:ext cx="635" cy="464820"/>
          </a:xfrm>
          <a:prstGeom prst="straightConnector1"/>
          <a:ln w="12700" cap="flat" cmpd="sng">
            <a:prstDash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도형 18"/>
          <p:cNvCxnSpPr>
            <a:endCxn id="7" idx="0"/>
          </p:cNvCxnSpPr>
          <p:nvPr/>
        </p:nvCxnSpPr>
        <p:spPr>
          <a:xfrm rot="0" flipH="1">
            <a:off x="6096000" y="5484495"/>
            <a:ext cx="3864610" cy="464820"/>
          </a:xfrm>
          <a:prstGeom prst="straightConnector1"/>
          <a:ln w="12700" cap="flat" cmpd="sng">
            <a:prstDash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title"/>
          </p:nvPr>
        </p:nvSpPr>
        <p:spPr>
          <a:xfrm rot="0">
            <a:off x="838200" y="394970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Da</a:t>
            </a:r>
            <a:r>
              <a:rPr lang="ko-KR" altLang="en-US"/>
              <a:t>ta</a:t>
            </a:r>
            <a:r>
              <a:rPr lang="ko-KR" altLang="en-US"/>
              <a:t>출처</a:t>
            </a:r>
            <a:endParaRPr lang="ko-KR" altLang="en-US"/>
          </a:p>
        </p:txBody>
      </p:sp>
      <p:sp>
        <p:nvSpPr>
          <p:cNvPr id="3" name="텍스트 상자 3"/>
          <p:cNvSpPr txBox="1">
            <a:spLocks/>
          </p:cNvSpPr>
          <p:nvPr/>
        </p:nvSpPr>
        <p:spPr>
          <a:xfrm rot="0">
            <a:off x="779780" y="2009775"/>
            <a:ext cx="10319385" cy="3751580"/>
          </a:xfrm>
          <a:prstGeom prst="rect"/>
          <a:noFill/>
        </p:spPr>
        <p:txBody>
          <a:bodyPr wrap="square" lIns="0" tIns="0" rIns="0" bIns="0" vert="horz" anchor="t">
            <a:spAutoFit/>
          </a:bodyPr>
          <a:lstStyle/>
          <a:p>
            <a:pPr marL="457200" indent="-228600" algn="just" defTabSz="508000">
              <a:buFontTx/>
              <a:buNone/>
            </a:pP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1</a:t>
            </a: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. </a:t>
            </a: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농촌 진흥청 - 스마트팜 현장 농가 데이터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457200" indent="-228600" algn="just" defTabSz="508000">
              <a:buFontTx/>
              <a:buNone/>
            </a:pP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	</a:t>
            </a:r>
            <a:r>
              <a:rPr sz="1100" u="sng" i="0" b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 charset="0"/>
                <a:ea typeface="Arial" charset="0"/>
                <a:sym typeface="맑은 고딕" charset="0"/>
                <a:hlinkClick r:id="rId2"/>
              </a:rPr>
              <a:t>https://www.data.go.kr/data/15108734/fileData.do?utm_source=chatgpt.com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457200" indent="-228600" algn="just" defTabSz="508000">
              <a:buFontTx/>
              <a:buNone/>
            </a:pPr>
            <a:r>
              <a:rPr lang="ko-KR"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2</a:t>
            </a:r>
            <a:r>
              <a:rPr lang="ko-KR"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. </a:t>
            </a: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농촌 진흥청 - 스마트팜 우수 농가 공개용 데이터 - open api활용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457200" indent="-228600" algn="just" defTabSz="508000">
              <a:buFontTx/>
              <a:buNone/>
            </a:pP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 	</a:t>
            </a:r>
            <a:r>
              <a:rPr lang="ko-KR"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 </a:t>
            </a:r>
            <a:r>
              <a:rPr sz="1100" u="sng" i="0" b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 charset="0"/>
                <a:ea typeface="Arial" charset="0"/>
                <a:sym typeface="맑은 고딕" charset="0"/>
                <a:hlinkClick r:id="rId3"/>
              </a:rPr>
              <a:t>https://www.data.go.kr/data/15042594/openapi.do?utm_source=chatgpt.com</a:t>
            </a: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 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0" indent="139700" algn="just" defTabSz="508000"/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 </a:t>
            </a: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	</a:t>
            </a: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apikey - 19617ae404405248d0ec5656a39bed3806db7c378fa8671470b7c5604931549a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457200" indent="-228600" algn="just" defTabSz="508000">
              <a:buFontTx/>
              <a:buNone/>
            </a:pP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3</a:t>
            </a: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. </a:t>
            </a: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농림수산식품교육문화정보원 - 지역별 딸기 스마트팜 생육 융복합 정보</a:t>
            </a: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	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457200" indent="-228600" algn="just" defTabSz="508000">
              <a:buFontTx/>
              <a:buNone/>
            </a:pPr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	 </a:t>
            </a:r>
            <a:r>
              <a:rPr sz="1100" u="sng" i="0" b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 charset="0"/>
                <a:ea typeface="Arial" charset="0"/>
                <a:sym typeface="맑은 고딕" charset="0"/>
                <a:hlinkClick r:id="rId4"/>
              </a:rPr>
              <a:t>https://www.data.go.kr/data/15090544/fileData.do?recommendDataYn=Y&amp;utm_source=chatgpt.com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457200" indent="-228600" algn="just" defTabSz="508000">
              <a:buFontTx/>
              <a:buNone/>
            </a:pPr>
            <a:r>
              <a:rPr lang="ko-KR" sz="1100" u="sng" i="0" b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 charset="0"/>
                <a:ea typeface="Arial" charset="0"/>
                <a:sym typeface="맑은 고딕" charset="0"/>
              </a:rPr>
              <a:t>4</a:t>
            </a:r>
            <a:r>
              <a:rPr lang="ko-KR" sz="1100" u="sng" i="0" b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 charset="0"/>
                <a:ea typeface="Arial" charset="0"/>
                <a:sym typeface="맑은 고딕" charset="0"/>
              </a:rPr>
              <a:t>. </a:t>
            </a:r>
            <a:r>
              <a:rPr sz="1100" u="sng" i="0" b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 charset="0"/>
                <a:ea typeface="Arial" charset="0"/>
                <a:sym typeface="맑은 고딕" charset="0"/>
                <a:hlinkClick r:id="rId5"/>
              </a:rPr>
              <a:t>https://www.smartfarmkorea.net/datamart/fclty/list.do#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457200" indent="-228600" algn="just" defTabSz="508000">
              <a:buFontTx/>
              <a:buNone/>
            </a:pPr>
            <a:r>
              <a:rPr sz="1100" u="sng" i="0" b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 charset="0"/>
                <a:ea typeface="Arial" charset="0"/>
                <a:sym typeface="맑은 고딕" charset="0"/>
                <a:hlinkClick r:id="rId6">
                  <a:extLst>
                    <a:ext uri="{A12FA001-AC4F-418D-AE19-62706E023703}">
                      <ahyp:hlinkClr xmlns:ahyp="http://schemas.microsoft.com/office/drawing/2018/hyperlinkcolor" xmlns="" val="hlink"/>
                    </a:ext>
                  </a:extLst>
                </a:hlinkClick>
              </a:rPr>
              <a:t>5. 스마트팜 빅데이터 플랫폼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0" indent="0" algn="just" defTabSz="508000"/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0" indent="0" algn="just" defTabSz="508000"/>
            <a:r>
              <a:rPr sz="1000">
                <a:solidFill>
                  <a:srgbClr val="000000"/>
                </a:solidFill>
                <a:latin typeface="맑은 고딕" charset="0"/>
                <a:ea typeface="맑은 고딕" charset="0"/>
                <a:sym typeface="맑은 고딕" charset="0"/>
              </a:rPr>
              <a:t>오늘의 날씨</a:t>
            </a:r>
            <a:endParaRPr lang="ko-KR" altLang="en-US" sz="1000">
              <a:solidFill>
                <a:srgbClr val="000000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algn="just" defTabSz="508000"/>
            <a:r>
              <a:rPr sz="1100" u="sng" i="0" b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 charset="0"/>
                <a:ea typeface="Arial" charset="0"/>
                <a:sym typeface="맑은 고딕" charset="0"/>
                <a:hlinkClick r:id="rId7"/>
              </a:rPr>
              <a:t>https://data.kma.go.kr/data/rmt/rmtList.do?code=420&amp;pgmNo=572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0" indent="0" algn="just" defTabSz="508000"/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0" indent="0" algn="just" defTabSz="508000"/>
            <a:r>
              <a:rPr sz="1100" i="0" b="0">
                <a:solidFill>
                  <a:srgbClr val="000000"/>
                </a:solidFill>
                <a:latin typeface="Arial" charset="0"/>
                <a:ea typeface="Arial" charset="0"/>
                <a:sym typeface="맑은 고딕" charset="0"/>
              </a:rPr>
              <a:t>가격 데이터 관련 내용출처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0" indent="0" algn="just" defTabSz="508000"/>
            <a:r>
              <a:rPr sz="1100" u="sng" i="0" b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 charset="0"/>
                <a:ea typeface="Arial" charset="0"/>
                <a:sym typeface="맑은 고딕" charset="0"/>
                <a:hlinkClick r:id="rId8"/>
              </a:rPr>
              <a:t>https://www.kamis.or.kr/customer/main/main.do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0" indent="0" algn="just" defTabSz="508000"/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0" indent="0" algn="just" defTabSz="508000"/>
            <a:r>
              <a:rPr sz="1100" u="sng" i="0" b="0">
                <a:solidFill>
                  <a:srgbClr val="1155CC"/>
                </a:solidFill>
                <a:uFill>
                  <a:solidFill>
                    <a:srgbClr val="1155CC"/>
                  </a:solidFill>
                </a:uFill>
                <a:latin typeface="Arial" charset="0"/>
                <a:ea typeface="Arial" charset="0"/>
                <a:sym typeface="맑은 고딕" charset="0"/>
                <a:hlinkClick r:id="rId9"/>
              </a:rPr>
              <a:t>https://www.data.go.kr/data/15121324/openapi.do</a:t>
            </a:r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0" indent="0" algn="just" defTabSz="508000"/>
            <a:endParaRPr lang="ko-KR" altLang="en-US" sz="1100" i="0" b="0">
              <a:solidFill>
                <a:srgbClr val="000000"/>
              </a:solidFill>
              <a:latin typeface="Arial" charset="0"/>
              <a:ea typeface="Arial" charset="0"/>
              <a:sym typeface="맑은 고딕" charset="0"/>
            </a:endParaRPr>
          </a:p>
          <a:p>
            <a:pPr marL="0" indent="0" algn="just" defTabSz="508000"/>
            <a:r>
              <a:rPr sz="1100" u="sng" b="0">
                <a:solidFill>
                  <a:schemeClr val="hlink"/>
                </a:solidFill>
                <a:latin typeface="맑은 고딕" charset="0"/>
                <a:ea typeface="맑은 고딕" charset="0"/>
                <a:sym typeface="맑은 고딕" charset="0"/>
                <a:hlinkClick r:id="rId10"/>
              </a:rPr>
              <a:t>https://drive.google.com/file/d/1RZrvrqdl1CA5Tlo7AgRLuz5V6aRWmRiu/view?usp=drive_link</a:t>
            </a:r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4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kim james</dc:creator>
  <cp:lastModifiedBy>kim james</cp:lastModifiedBy>
  <dc:title>PowerPoint 프레젠테이션</dc:title>
  <cp:version>10.105.298.56155</cp:version>
</cp:coreProperties>
</file>